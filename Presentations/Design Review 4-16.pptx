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7" r:id="rId2"/>
    <p:sldMasterId id="2147483673" r:id="rId3"/>
    <p:sldMasterId id="2147483680" r:id="rId4"/>
    <p:sldMasterId id="2147483686" r:id="rId5"/>
  </p:sldMasterIdLst>
  <p:sldIdLst>
    <p:sldId id="256" r:id="rId6"/>
    <p:sldId id="264" r:id="rId7"/>
    <p:sldId id="267" r:id="rId8"/>
    <p:sldId id="263" r:id="rId9"/>
    <p:sldId id="265" r:id="rId10"/>
    <p:sldId id="266" r:id="rId11"/>
    <p:sldId id="268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9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13278-A44F-857B-4634-DB4B37516D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/>
          <a:lstStyle>
            <a:lvl1pPr algn="l">
              <a:spcBef>
                <a:spcPts val="1600"/>
              </a:spcBef>
              <a:defRPr lang="en-US" sz="6667" b="0" i="0" kern="1200" baseline="0" dirty="0" smtClean="0">
                <a:solidFill>
                  <a:schemeClr val="tx1"/>
                </a:solidFill>
                <a:latin typeface="Encode Sans Normal Black"/>
                <a:ea typeface="+mn-ea"/>
                <a:cs typeface="Encode Sans Normal Black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23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1011358"/>
            <a:ext cx="3386655" cy="229748"/>
          </a:xfrm>
          <a:prstGeom prst="rect">
            <a:avLst/>
          </a:prstGeom>
        </p:spPr>
      </p:pic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6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357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1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5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5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86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5348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09" y="1819205"/>
            <a:ext cx="1471708" cy="128481"/>
          </a:xfrm>
          <a:prstGeom prst="rect">
            <a:avLst/>
          </a:prstGeom>
        </p:spPr>
      </p:pic>
      <p:sp>
        <p:nvSpPr>
          <p:cNvPr id="8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53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66ED-2F6E-8B9A-B382-99349A405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626C8-DD9F-F417-4E7C-7B8CC5DC9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06E3-57A2-6905-E0BA-27298FD4B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5DE0D-661B-488B-9D9C-96732ACEAB0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360E-14DA-772B-0652-FE4AC36D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A7E3-2966-CED3-BBB9-99D3AAF7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8AF4-1903-467E-80FC-EB159D47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79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2819" y="1449112"/>
            <a:ext cx="9297415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033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1449112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1011358"/>
            <a:ext cx="3386655" cy="2297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7441" y="5157720"/>
            <a:ext cx="2133600" cy="186267"/>
          </a:xfrm>
          <a:prstGeom prst="rect">
            <a:avLst/>
          </a:prstGeom>
        </p:spPr>
      </p:pic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736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503145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32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22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59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27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613827" y="2338804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343987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218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42" y="6131476"/>
            <a:ext cx="3221697" cy="2846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 baseline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r>
              <a:rPr lang="en-US" dirty="0"/>
              <a:t>TITLE HERE </a:t>
            </a:r>
            <a:br>
              <a:rPr lang="en-US" dirty="0"/>
            </a:br>
            <a:r>
              <a:rPr lang="en-US" dirty="0"/>
              <a:t>ENCODE NORMAL BLACK, 50 PT.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1" y="6234041"/>
            <a:ext cx="3386667" cy="229748"/>
          </a:xfrm>
          <a:prstGeom prst="rect">
            <a:avLst/>
          </a:prstGeom>
        </p:spPr>
      </p:pic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39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1" y="495348"/>
            <a:ext cx="10929485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1" name="Picture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9" name="Pictur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49" y="6234041"/>
            <a:ext cx="3386667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00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1" y="492978"/>
            <a:ext cx="10929485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31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er + 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416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solidFill>
                  <a:schemeClr val="tx2"/>
                </a:solidFill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6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77089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rgbClr val="FFFFFF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6" name="Pictur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49" y="6234041"/>
            <a:ext cx="3386667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425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266ED-2F6E-8B9A-B382-99349A405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626C8-DD9F-F417-4E7C-7B8CC5DC9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C06E3-57A2-6905-E0BA-27298FD4B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5DE0D-661B-488B-9D9C-96732ACEAB0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360E-14DA-772B-0652-FE4AC36DC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0A7E3-2966-CED3-BBB9-99D3AAF7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018AF4-1903-467E-80FC-EB159D4743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8519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8" name="Pictur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2" y="4568599"/>
            <a:ext cx="2129919" cy="186267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2" y="6132143"/>
            <a:ext cx="3221697" cy="283315"/>
          </a:xfrm>
          <a:prstGeom prst="rect">
            <a:avLst/>
          </a:prstGeom>
        </p:spPr>
      </p:pic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5830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29640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10" name="Pictur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82" y="4568599"/>
            <a:ext cx="2129919" cy="186267"/>
          </a:xfrm>
          <a:prstGeom prst="rect">
            <a:avLst/>
          </a:prstGeom>
        </p:spPr>
      </p:pic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6234041"/>
            <a:ext cx="3386655" cy="229748"/>
          </a:xfrm>
          <a:prstGeom prst="rect">
            <a:avLst/>
          </a:prstGeom>
        </p:spPr>
      </p:pic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452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76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11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5" name="Pictur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350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4" name="Pictur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153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508812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166" y="1818011"/>
            <a:ext cx="1453460" cy="128483"/>
          </a:xfrm>
          <a:prstGeom prst="rect">
            <a:avLst/>
          </a:prstGeom>
        </p:spPr>
      </p:pic>
      <p:sp>
        <p:nvSpPr>
          <p:cNvPr id="8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347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13833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2" name="Pictur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1" y="6132013"/>
            <a:ext cx="3233635" cy="284364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6509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5" y="859991"/>
            <a:ext cx="9364720" cy="3522341"/>
          </a:xfrm>
          <a:prstGeom prst="rect">
            <a:avLst/>
          </a:prstGeom>
        </p:spPr>
        <p:txBody>
          <a:bodyPr anchor="b"/>
          <a:lstStyle>
            <a:lvl1pPr algn="l">
              <a:defRPr sz="6667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TITLE HERE</a:t>
            </a:r>
            <a:br>
              <a:rPr lang="en-US" dirty="0"/>
            </a:br>
            <a:r>
              <a:rPr lang="en-US" dirty="0"/>
              <a:t>ENCODE NORMAL</a:t>
            </a:r>
            <a:br>
              <a:rPr lang="en-US" dirty="0"/>
            </a:br>
            <a:r>
              <a:rPr lang="en-US" dirty="0"/>
              <a:t>BLACK, 50 PT. </a:t>
            </a:r>
          </a:p>
        </p:txBody>
      </p:sp>
      <p:pic>
        <p:nvPicPr>
          <p:cNvPr id="7" name="Pictur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441" y="4568599"/>
            <a:ext cx="2133600" cy="186267"/>
          </a:xfrm>
          <a:prstGeom prst="rect">
            <a:avLst/>
          </a:prstGeom>
        </p:spPr>
      </p:pic>
      <p:pic>
        <p:nvPicPr>
          <p:cNvPr id="13" name="Pictur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447" y="6234041"/>
            <a:ext cx="3386655" cy="229748"/>
          </a:xfrm>
          <a:prstGeom prst="rect">
            <a:avLst/>
          </a:prstGeom>
        </p:spPr>
      </p:pic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03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Sub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7230" y="492381"/>
            <a:ext cx="10929479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25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13833" y="2307557"/>
            <a:ext cx="10912883" cy="5482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3200" b="0" i="0" baseline="0">
                <a:solidFill>
                  <a:schemeClr val="tx2"/>
                </a:solidFill>
                <a:latin typeface="Uni Sans Regular" charset="0"/>
                <a:ea typeface="Uni Sans Regular" charset="0"/>
                <a:cs typeface="Uni Sans Regular" charset="0"/>
              </a:defRPr>
            </a:lvl1pPr>
            <a:lvl2pPr marL="609585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2pPr>
            <a:lvl3pPr marL="1219170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3pPr>
            <a:lvl4pPr marL="1828754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4pPr>
            <a:lvl5pPr marL="2438339" indent="0">
              <a:buNone/>
              <a:defRPr b="0" i="0">
                <a:solidFill>
                  <a:srgbClr val="E8D3A2"/>
                </a:solidFill>
                <a:latin typeface="Encode Sans Normal Black"/>
                <a:cs typeface="Encode Sans Normal Black"/>
              </a:defRPr>
            </a:lvl5pPr>
          </a:lstStyle>
          <a:p>
            <a:pPr lvl="0"/>
            <a:r>
              <a:rPr lang="en-US" dirty="0"/>
              <a:t>SUB-HEADER HERE (UNI SANS REGULAR, 24 PT.)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3093653"/>
            <a:ext cx="10929485" cy="3002348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26" name="Pictur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603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4164"/>
            <a:ext cx="10912883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22" name="Pictur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597231" y="2307557"/>
            <a:ext cx="10929485" cy="3154535"/>
          </a:xfrm>
          <a:prstGeom prst="rect">
            <a:avLst/>
          </a:prstGeom>
        </p:spPr>
        <p:txBody>
          <a:bodyPr/>
          <a:lstStyle>
            <a:lvl1pPr marL="457189" indent="-457189">
              <a:buFont typeface="Lucida Grande"/>
              <a:buChar char="&gt;"/>
              <a:defRPr sz="32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1pPr>
            <a:lvl2pPr>
              <a:defRPr sz="26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2pPr>
            <a:lvl3pPr marL="1523962" indent="-304792">
              <a:buSzPct val="100000"/>
              <a:buFont typeface="Lucida Grande"/>
              <a:buChar char="&gt;"/>
              <a:defRPr sz="2400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3pPr>
            <a:lvl4pPr>
              <a:defRPr sz="2133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4pPr>
            <a:lvl5pPr marL="2743131" indent="-304792">
              <a:buFont typeface="Lucida Grande"/>
              <a:buChar char="&gt;"/>
              <a:defRPr sz="1867" b="1" i="0" baseline="0">
                <a:solidFill>
                  <a:schemeClr val="tx2"/>
                </a:solidFill>
                <a:latin typeface="Open Sans" charset="0"/>
                <a:ea typeface="Open Sans" charset="0"/>
                <a:cs typeface="Open Sans" charset="0"/>
              </a:defRPr>
            </a:lvl5pPr>
          </a:lstStyle>
          <a:p>
            <a:pPr lvl="0"/>
            <a:r>
              <a:rPr lang="en-US" dirty="0"/>
              <a:t>Content here (Open Sans Bold, 24 pt.)</a:t>
            </a:r>
          </a:p>
          <a:p>
            <a:pPr lvl="1"/>
            <a:r>
              <a:rPr lang="en-US" dirty="0"/>
              <a:t>Second level (Open Sans Bold, 20)</a:t>
            </a:r>
          </a:p>
          <a:p>
            <a:pPr lvl="2"/>
            <a:r>
              <a:rPr lang="en-US" dirty="0"/>
              <a:t>Third level (Open Sans Bold, 18)</a:t>
            </a:r>
          </a:p>
          <a:p>
            <a:pPr lvl="3"/>
            <a:r>
              <a:rPr lang="en-US" dirty="0"/>
              <a:t>Fourth level (Open Sans Bold, 16)</a:t>
            </a:r>
          </a:p>
          <a:p>
            <a:pPr lvl="4"/>
            <a:r>
              <a:rPr lang="en-US" dirty="0"/>
              <a:t>Fifth level (Open Sans Bold, 14)</a:t>
            </a:r>
          </a:p>
        </p:txBody>
      </p:sp>
      <p:pic>
        <p:nvPicPr>
          <p:cNvPr id="6" name="Pictur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553" y="5626608"/>
            <a:ext cx="1828800" cy="123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6469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3833" y="492978"/>
            <a:ext cx="10896280" cy="1325033"/>
          </a:xfrm>
          <a:prstGeom prst="rect">
            <a:avLst/>
          </a:prstGeom>
        </p:spPr>
        <p:txBody>
          <a:bodyPr anchor="b"/>
          <a:lstStyle>
            <a:lvl1pPr algn="l">
              <a:defRPr sz="4000" b="1" i="0">
                <a:latin typeface="Encode Sans Normal Black" charset="0"/>
                <a:ea typeface="Encode Sans Normal Black" charset="0"/>
                <a:cs typeface="Encode Sans Normal Black" charset="0"/>
              </a:defRPr>
            </a:lvl1pPr>
          </a:lstStyle>
          <a:p>
            <a:pPr lvl="0"/>
            <a:r>
              <a:rPr lang="en-US" dirty="0"/>
              <a:t>HEADER HERE </a:t>
            </a:r>
            <a:br>
              <a:rPr lang="en-US" dirty="0"/>
            </a:br>
            <a:r>
              <a:rPr lang="en-US" dirty="0"/>
              <a:t>(ENCODE NORMAL BLACK, 30 PT.)</a:t>
            </a:r>
          </a:p>
        </p:txBody>
      </p:sp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042" y="1818011"/>
            <a:ext cx="1471708" cy="128483"/>
          </a:xfrm>
          <a:prstGeom prst="rect">
            <a:avLst/>
          </a:prstGeom>
        </p:spPr>
      </p:pic>
      <p:sp>
        <p:nvSpPr>
          <p:cNvPr id="10" name="Chart Placeholder 11"/>
          <p:cNvSpPr>
            <a:spLocks noGrp="1"/>
          </p:cNvSpPr>
          <p:nvPr>
            <p:ph type="chart" sz="quarter" idx="12" hasCustomPrompt="1"/>
          </p:nvPr>
        </p:nvSpPr>
        <p:spPr>
          <a:xfrm>
            <a:off x="597231" y="2299970"/>
            <a:ext cx="10912883" cy="394821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b="0" i="1" baseline="0">
                <a:solidFill>
                  <a:schemeClr val="tx1"/>
                </a:solidFill>
                <a:latin typeface="Open Sans Light"/>
                <a:cs typeface="Open Sans Light"/>
              </a:defRPr>
            </a:lvl1pPr>
          </a:lstStyle>
          <a:p>
            <a:r>
              <a:rPr lang="en-US" dirty="0"/>
              <a:t>Graphics can go here – </a:t>
            </a:r>
            <a:br>
              <a:rPr lang="en-US" dirty="0"/>
            </a:br>
            <a:r>
              <a:rPr lang="en-US" dirty="0"/>
              <a:t>replace this box with your image or chart</a:t>
            </a:r>
          </a:p>
        </p:txBody>
      </p:sp>
      <p:pic>
        <p:nvPicPr>
          <p:cNvPr id="12" name="Pictur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055" y="6234041"/>
            <a:ext cx="3386655" cy="2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770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8D3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" t="38360" r="13252" b="30129"/>
          <a:stretch/>
        </p:blipFill>
        <p:spPr>
          <a:xfrm>
            <a:off x="0" y="0"/>
            <a:ext cx="12192000" cy="3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2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6" t="38360" r="13252" b="30129"/>
          <a:stretch/>
        </p:blipFill>
        <p:spPr>
          <a:xfrm>
            <a:off x="0" y="0"/>
            <a:ext cx="12192000" cy="32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99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43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2CA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23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27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557336D-E166-E5DF-D0D8-2A2DF2610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833" y="859991"/>
            <a:ext cx="9296400" cy="3522341"/>
          </a:xfrm>
        </p:spPr>
        <p:txBody>
          <a:bodyPr/>
          <a:lstStyle/>
          <a:p>
            <a:r>
              <a:rPr lang="en-US" dirty="0"/>
              <a:t>Heating and Stirring Module Design Review #4</a:t>
            </a:r>
          </a:p>
        </p:txBody>
      </p:sp>
    </p:spTree>
    <p:extLst>
      <p:ext uri="{BB962C8B-B14F-4D97-AF65-F5344CB8AC3E}">
        <p14:creationId xmlns:p14="http://schemas.microsoft.com/office/powerpoint/2010/main" val="2592196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2B13-72EC-DBF1-1214-6B3D7213D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Constraints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7181C-DC6F-2398-C179-8940A9EC19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18630" y="1925419"/>
            <a:ext cx="6715880" cy="3902174"/>
          </a:xfrm>
        </p:spPr>
        <p:txBody>
          <a:bodyPr/>
          <a:lstStyle/>
          <a:p>
            <a:r>
              <a:rPr lang="en-US" sz="2000" dirty="0"/>
              <a:t>Underestimated power requirement of hotplates. </a:t>
            </a:r>
          </a:p>
          <a:p>
            <a:pPr lvl="1"/>
            <a:r>
              <a:rPr lang="en-US" sz="2000" dirty="0"/>
              <a:t>10-25W required, 5W initial estimate.</a:t>
            </a:r>
          </a:p>
          <a:p>
            <a:pPr lvl="1"/>
            <a:r>
              <a:rPr lang="en-US" sz="2000" dirty="0"/>
              <a:t>Further testing required. </a:t>
            </a:r>
          </a:p>
          <a:p>
            <a:pPr lvl="1"/>
            <a:r>
              <a:rPr lang="en-US" sz="2000" dirty="0"/>
              <a:t>Total power consumption, 450-700W. </a:t>
            </a:r>
          </a:p>
          <a:p>
            <a:r>
              <a:rPr lang="en-US" sz="2000" dirty="0"/>
              <a:t>Change from 5V to 24V architecture.</a:t>
            </a:r>
          </a:p>
          <a:p>
            <a:pPr lvl="1"/>
            <a:r>
              <a:rPr lang="en-US" sz="2000" dirty="0"/>
              <a:t>Lower transmission losses.</a:t>
            </a:r>
          </a:p>
          <a:p>
            <a:pPr lvl="1"/>
            <a:r>
              <a:rPr lang="en-US" sz="2000" dirty="0"/>
              <a:t>Lower current. </a:t>
            </a:r>
          </a:p>
          <a:p>
            <a:pPr lvl="1"/>
            <a:r>
              <a:rPr lang="en-US" sz="2000" dirty="0"/>
              <a:t>Requires redesign of current power distribution systems. </a:t>
            </a:r>
          </a:p>
          <a:p>
            <a:endParaRPr lang="en-US" sz="2533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57816C-B51E-37AC-A4AF-3FE4CC22C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81" y="2575922"/>
            <a:ext cx="3939949" cy="315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10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6D64D-DA44-78EC-9443-3CBD2B32E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contd.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F6305-503A-BF0B-DB50-9E486B72B3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3833" y="2307558"/>
            <a:ext cx="10912883" cy="2305386"/>
          </a:xfrm>
        </p:spPr>
        <p:txBody>
          <a:bodyPr/>
          <a:lstStyle/>
          <a:p>
            <a:r>
              <a:rPr lang="en-US" dirty="0"/>
              <a:t>Larger power supply required, increased cost.</a:t>
            </a:r>
          </a:p>
          <a:p>
            <a:pPr lvl="1"/>
            <a:r>
              <a:rPr lang="en-US" dirty="0"/>
              <a:t>LRS-600N2, 600W @ 24V, $64. 12% </a:t>
            </a:r>
            <a:r>
              <a:rPr lang="en-US"/>
              <a:t>larger footprint.</a:t>
            </a:r>
            <a:endParaRPr lang="en-US" dirty="0"/>
          </a:p>
          <a:p>
            <a:pPr lvl="1"/>
            <a:r>
              <a:rPr lang="en-US" dirty="0"/>
              <a:t>Cannot accommodate a 6-module control hub, 4 at most.</a:t>
            </a:r>
          </a:p>
          <a:p>
            <a:r>
              <a:rPr lang="en-US" dirty="0"/>
              <a:t>H&amp;S 24-5V Buck required, increased complexity.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6626BD-020A-C7B6-BF46-CAF4077EF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263" y="4612943"/>
            <a:ext cx="7151952" cy="206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66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8D2DD-C836-9A93-ED05-3487FBB9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Redesigned Hotplate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75A303-88A7-85E0-0727-750873A3D0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28699" y="2307557"/>
            <a:ext cx="7098017" cy="4244454"/>
          </a:xfrm>
        </p:spPr>
        <p:txBody>
          <a:bodyPr/>
          <a:lstStyle/>
          <a:p>
            <a:r>
              <a:rPr lang="en-US" dirty="0"/>
              <a:t>Tuned line thickness, routing pattern for:</a:t>
            </a:r>
          </a:p>
          <a:p>
            <a:pPr lvl="1"/>
            <a:r>
              <a:rPr lang="en-US" dirty="0"/>
              <a:t>Higher resistance. </a:t>
            </a:r>
          </a:p>
          <a:p>
            <a:pPr lvl="1"/>
            <a:r>
              <a:rPr lang="en-US" dirty="0"/>
              <a:t>Output power, 25W goal.</a:t>
            </a:r>
          </a:p>
          <a:p>
            <a:pPr lvl="1"/>
            <a:r>
              <a:rPr lang="en-US" dirty="0"/>
              <a:t>Heat dissipation.</a:t>
            </a:r>
          </a:p>
          <a:p>
            <a:pPr lvl="1"/>
            <a:r>
              <a:rPr lang="en-US" dirty="0"/>
              <a:t>Thermistor accuracy.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DD129-F3F0-D414-FF70-DDDBC6071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06" y="1947105"/>
            <a:ext cx="1771792" cy="460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4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FB2C-F236-543B-64B3-F72B43F54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Adjusted Housing Dimensions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15E71-3335-392D-1502-5BDA8333A1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08979" y="2307557"/>
            <a:ext cx="6217737" cy="3154535"/>
          </a:xfrm>
        </p:spPr>
        <p:txBody>
          <a:bodyPr/>
          <a:lstStyle/>
          <a:p>
            <a:r>
              <a:rPr lang="en-US" sz="2800" dirty="0"/>
              <a:t>Altered motor spacing to accommodate for a Nucleo-32 development board.</a:t>
            </a:r>
          </a:p>
          <a:p>
            <a:r>
              <a:rPr lang="en-US" sz="2800" dirty="0"/>
              <a:t>Reduced complexity.</a:t>
            </a:r>
          </a:p>
          <a:p>
            <a:r>
              <a:rPr lang="en-US" sz="2800" dirty="0"/>
              <a:t>All housing components must be updated.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02FB16-D27A-896E-427E-2C67579DE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488" y="2135874"/>
            <a:ext cx="3091888" cy="446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60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267D1-56B1-6E48-E225-31A287286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Heating and Stirring PCB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64C6E-014E-429D-0F3B-5058690BC3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1898124"/>
            <a:ext cx="5430716" cy="3840759"/>
          </a:xfrm>
        </p:spPr>
        <p:txBody>
          <a:bodyPr/>
          <a:lstStyle/>
          <a:p>
            <a:r>
              <a:rPr lang="en-US" sz="2400" dirty="0"/>
              <a:t>75% complete, missing pinouts, several connectors. </a:t>
            </a:r>
          </a:p>
          <a:p>
            <a:r>
              <a:rPr lang="en-US" sz="2400" dirty="0"/>
              <a:t>4-layers, assembled by hand. </a:t>
            </a:r>
          </a:p>
          <a:p>
            <a:r>
              <a:rPr lang="en-US" sz="2400" dirty="0"/>
              <a:t>SMD components unavoidable. </a:t>
            </a:r>
          </a:p>
          <a:p>
            <a:r>
              <a:rPr lang="en-US" sz="2400" dirty="0"/>
              <a:t>Redesigned power distribution.</a:t>
            </a:r>
          </a:p>
          <a:p>
            <a:pPr lvl="1"/>
            <a:r>
              <a:rPr lang="en-US" sz="1867" dirty="0"/>
              <a:t>24V, 1A hotplate. Main bus.</a:t>
            </a:r>
          </a:p>
          <a:p>
            <a:pPr lvl="1"/>
            <a:r>
              <a:rPr lang="en-US" sz="1867" dirty="0"/>
              <a:t>5V, ~3A total motors. Buck converter.</a:t>
            </a:r>
          </a:p>
          <a:p>
            <a:pPr lvl="1"/>
            <a:r>
              <a:rPr lang="en-US" sz="1867" dirty="0"/>
              <a:t>3.3V, ~400mA logic. Internal LDO VR.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AF5EB-FB27-C408-C73D-218AB29A3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1" y="2392456"/>
            <a:ext cx="5430717" cy="357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22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8751-BA52-0C9E-B846-25705C2F3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Purchasing PCB’s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B2890-D056-211D-1818-43D3D1B4AE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24233" y="2307557"/>
            <a:ext cx="7002483" cy="3154535"/>
          </a:xfrm>
        </p:spPr>
        <p:txBody>
          <a:bodyPr/>
          <a:lstStyle/>
          <a:p>
            <a:r>
              <a:rPr lang="en-US" dirty="0"/>
              <a:t>Low materials cost</a:t>
            </a:r>
          </a:p>
          <a:p>
            <a:r>
              <a:rPr lang="en-US" dirty="0"/>
              <a:t>Customs fee &amp; tariffs ~$40</a:t>
            </a:r>
          </a:p>
          <a:p>
            <a:r>
              <a:rPr lang="en-US" dirty="0"/>
              <a:t>Ordering in bulk</a:t>
            </a:r>
          </a:p>
          <a:p>
            <a:r>
              <a:rPr lang="en-US" dirty="0"/>
              <a:t>Extensive testing prior to order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FF01A-830A-00F6-A959-0A8FC810D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88" y="2190465"/>
            <a:ext cx="2857775" cy="412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70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115F-3B72-0250-7CAF-2869949F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5C407-5623-C9D5-2422-8F180AF70B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Finish H&amp;S and Control Hub PCBs.</a:t>
            </a:r>
          </a:p>
          <a:p>
            <a:r>
              <a:rPr lang="en-US" dirty="0"/>
              <a:t>Remodel H&amp;S lid and vial guide. </a:t>
            </a:r>
          </a:p>
          <a:p>
            <a:r>
              <a:rPr lang="en-US" dirty="0"/>
              <a:t>Remodel Control Hub.</a:t>
            </a:r>
          </a:p>
          <a:p>
            <a:r>
              <a:rPr lang="en-US" dirty="0"/>
              <a:t>Test stir bar interaction.</a:t>
            </a:r>
          </a:p>
        </p:txBody>
      </p:sp>
    </p:spTree>
    <p:extLst>
      <p:ext uri="{BB962C8B-B14F-4D97-AF65-F5344CB8AC3E}">
        <p14:creationId xmlns:p14="http://schemas.microsoft.com/office/powerpoint/2010/main" val="2588018134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3_Custom Design">
  <a:themeElements>
    <a:clrScheme name="4b2e83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Custom Design">
  <a:themeElements>
    <a:clrScheme name="Custom 2">
      <a:dk1>
        <a:srgbClr val="4B2E83"/>
      </a:dk1>
      <a:lt1>
        <a:srgbClr val="E8D3A2"/>
      </a:lt1>
      <a:dk2>
        <a:srgbClr val="4B2E83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D8D9DA"/>
      </a:accent4>
      <a:accent5>
        <a:srgbClr val="999999"/>
      </a:accent5>
      <a:accent6>
        <a:srgbClr val="917B4C"/>
      </a:accent6>
      <a:hlink>
        <a:srgbClr val="D8D9DA"/>
      </a:hlink>
      <a:folHlink>
        <a:srgbClr val="99999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PPT_Template_16x9-Angle_a11y</Template>
  <TotalTime>2693</TotalTime>
  <Words>254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Arial</vt:lpstr>
      <vt:lpstr>Encode Sans Normal Black</vt:lpstr>
      <vt:lpstr>Lucida Grande</vt:lpstr>
      <vt:lpstr>Open Sans</vt:lpstr>
      <vt:lpstr>Open Sans Light</vt:lpstr>
      <vt:lpstr>Uni Sans Regular</vt:lpstr>
      <vt:lpstr>2_Custom Design</vt:lpstr>
      <vt:lpstr>1_Custom Design</vt:lpstr>
      <vt:lpstr>Custom Design</vt:lpstr>
      <vt:lpstr>3_Custom Design</vt:lpstr>
      <vt:lpstr>4_Custom Design</vt:lpstr>
      <vt:lpstr>Heating and Stirring Module Design Review #4</vt:lpstr>
      <vt:lpstr>Power Constraints</vt:lpstr>
      <vt:lpstr>Power contd.</vt:lpstr>
      <vt:lpstr>Redesigned Hotplate</vt:lpstr>
      <vt:lpstr>Adjusted Housing Dimensions</vt:lpstr>
      <vt:lpstr>Heating and Stirring PCB</vt:lpstr>
      <vt:lpstr>Purchasing PCB’s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P Heredia-Jantz</dc:creator>
  <cp:lastModifiedBy>Rudy P Heredia-Jantz</cp:lastModifiedBy>
  <cp:revision>14</cp:revision>
  <dcterms:created xsi:type="dcterms:W3CDTF">2026-03-03T09:35:39Z</dcterms:created>
  <dcterms:modified xsi:type="dcterms:W3CDTF">2026-04-16T18:43:40Z</dcterms:modified>
</cp:coreProperties>
</file>