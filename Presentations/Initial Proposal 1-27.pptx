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0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5033E-6BC5-4CF2-8BC1-37091251BE9E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9C145-3CBA-4987-BCDF-E033A2D08EE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3087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5033E-6BC5-4CF2-8BC1-37091251BE9E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9C145-3CBA-4987-BCDF-E033A2D08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737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5033E-6BC5-4CF2-8BC1-37091251BE9E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9C145-3CBA-4987-BCDF-E033A2D08EE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7098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5033E-6BC5-4CF2-8BC1-37091251BE9E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9C145-3CBA-4987-BCDF-E033A2D08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866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5033E-6BC5-4CF2-8BC1-37091251BE9E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9C145-3CBA-4987-BCDF-E033A2D08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240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5033E-6BC5-4CF2-8BC1-37091251BE9E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9C145-3CBA-4987-BCDF-E033A2D08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81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5033E-6BC5-4CF2-8BC1-37091251BE9E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9C145-3CBA-4987-BCDF-E033A2D08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888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DE5033E-6BC5-4CF2-8BC1-37091251BE9E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D09C145-3CBA-4987-BCDF-E033A2D08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760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5033E-6BC5-4CF2-8BC1-37091251BE9E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9C145-3CBA-4987-BCDF-E033A2D08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637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5033E-6BC5-4CF2-8BC1-37091251BE9E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9C145-3CBA-4987-BCDF-E033A2D08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168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5033E-6BC5-4CF2-8BC1-37091251BE9E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9C145-3CBA-4987-BCDF-E033A2D08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71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DE5033E-6BC5-4CF2-8BC1-37091251BE9E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D09C145-3CBA-4987-BCDF-E033A2D08EE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3307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72D34-F384-3644-0108-84B3453869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Well Heating and Stirring Module Proposal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D6697C-9E34-FD4D-CD8B-0ACDA6BB46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Rudy Heredia-Jantz</a:t>
            </a:r>
          </a:p>
        </p:txBody>
      </p:sp>
    </p:spTree>
    <p:extLst>
      <p:ext uri="{BB962C8B-B14F-4D97-AF65-F5344CB8AC3E}">
        <p14:creationId xmlns:p14="http://schemas.microsoft.com/office/powerpoint/2010/main" val="1278968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9EE4-C586-529E-183D-02D225F39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44671-419E-1C87-8595-A96937E8E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85.5 mm x 127.75 mm footprint.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12 vial capacity, with a planned 24 vial capacity.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Must be capable of rotating magnetic stir bars within vials.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Must be able to heat samples to 100°C ± 5°C.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Independent control of wells is preferred.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Interfaces with the Science Jubilee’s Arduino microcontroller.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Programmable through a </a:t>
            </a:r>
            <a:r>
              <a:rPr lang="en-US" dirty="0" err="1"/>
              <a:t>Jupyter</a:t>
            </a:r>
            <a:r>
              <a:rPr lang="en-US" dirty="0"/>
              <a:t> notebook interface.</a:t>
            </a:r>
          </a:p>
        </p:txBody>
      </p:sp>
    </p:spTree>
    <p:extLst>
      <p:ext uri="{BB962C8B-B14F-4D97-AF65-F5344CB8AC3E}">
        <p14:creationId xmlns:p14="http://schemas.microsoft.com/office/powerpoint/2010/main" val="1614531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9BA66-4BC9-8A7D-5676-2E490C96D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Stirring methods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9C9708F-AB47-CDCF-DAD7-12C9F6CB64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654274"/>
              </p:ext>
            </p:extLst>
          </p:nvPr>
        </p:nvGraphicFramePr>
        <p:xfrm>
          <a:off x="1096962" y="1846262"/>
          <a:ext cx="10210208" cy="286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5104">
                  <a:extLst>
                    <a:ext uri="{9D8B030D-6E8A-4147-A177-3AD203B41FA5}">
                      <a16:colId xmlns:a16="http://schemas.microsoft.com/office/drawing/2014/main" val="906578772"/>
                    </a:ext>
                  </a:extLst>
                </a:gridCol>
                <a:gridCol w="5105104">
                  <a:extLst>
                    <a:ext uri="{9D8B030D-6E8A-4147-A177-3AD203B41FA5}">
                      <a16:colId xmlns:a16="http://schemas.microsoft.com/office/drawing/2014/main" val="3942205326"/>
                    </a:ext>
                  </a:extLst>
                </a:gridCol>
              </a:tblGrid>
              <a:tr h="484621">
                <a:tc>
                  <a:txBody>
                    <a:bodyPr/>
                    <a:lstStyle/>
                    <a:p>
                      <a:r>
                        <a:rPr lang="en-US" dirty="0"/>
                        <a:t>Belt/Gear driven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Motor driven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258"/>
                  </a:ext>
                </a:extLst>
              </a:tr>
              <a:tr h="2384418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Uniform Control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1 – 4 motors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Mechanical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Prone to friction, tight tolerances are required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Harder to manufacture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Low cost, most components can be printed/ordered at a low cost.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Individual control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12 motors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Electrical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Few sources of friction, much larger tolerances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Easier to manufacture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Medium cost, most components can be ordered online, custom circuitry required.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357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4364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AF1B9-685D-C993-6C37-F76754D71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Motor Driven Stirring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520BE40-C01C-378B-7471-329FBCFE3E3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96963" y="2562165"/>
            <a:ext cx="4876868" cy="2558476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03F6C29-D68F-C61D-8D4F-4FBB125D70E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3 x 4 array of 5 V DC motors.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Oppositely oriented pairs of rotating diametric magnets are used to interact with stir bars.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3D Printed housing.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All motors are wired in parallel*</a:t>
            </a:r>
          </a:p>
        </p:txBody>
      </p:sp>
    </p:spTree>
    <p:extLst>
      <p:ext uri="{BB962C8B-B14F-4D97-AF65-F5344CB8AC3E}">
        <p14:creationId xmlns:p14="http://schemas.microsoft.com/office/powerpoint/2010/main" val="4206496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DCA3D-4B81-60F6-F4AC-BFE563506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Electric Motor Control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79C0C0E-BDB3-148A-B665-EEC47066994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529683" y="1846263"/>
            <a:ext cx="4073272" cy="4022725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316E08-0BAB-764B-9BD6-10401A89F07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MOSFET’s enable individual* well control.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Can be modified to only control columns/row.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motor draws 191 mA under load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2.29 A total draw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11.45 W power usage.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PWM (Pulse width modulation) can be utilized to control motor speed.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MOSFET must interface with a microcontroller or IC pin. </a:t>
            </a:r>
          </a:p>
        </p:txBody>
      </p:sp>
    </p:spTree>
    <p:extLst>
      <p:ext uri="{BB962C8B-B14F-4D97-AF65-F5344CB8AC3E}">
        <p14:creationId xmlns:p14="http://schemas.microsoft.com/office/powerpoint/2010/main" val="3307708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C2DC10F-CD76-43DC-9E0B-CB291F740C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C18170A-08B7-4230-A012-B24C20E39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2188B95-E375-4977-9E9C-E28CE956F6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BBFA49F-F3B2-82C0-0F7F-0582CEC56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Programmable Heating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DC6E00-CB92-498B-7A63-5A0152BBC3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89" t="5704" b="7698"/>
          <a:stretch>
            <a:fillRect/>
          </a:stretch>
        </p:blipFill>
        <p:spPr>
          <a:xfrm>
            <a:off x="598811" y="2048315"/>
            <a:ext cx="3380648" cy="3246759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C200B67-E689-729C-8067-651C4D5F0A8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4425925" y="1936188"/>
            <a:ext cx="1414437" cy="3471012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06B2BA-1BD1-B4BB-D53C-069AC7F667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1639" y="1845734"/>
            <a:ext cx="4804041" cy="4023360"/>
          </a:xfrm>
        </p:spPr>
        <p:txBody>
          <a:bodyPr vert="horz" lIns="0" tIns="45720" rIns="0" bIns="45720" rtlCol="0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Inspired by modern 3D printer heating beds.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Custom PCB constructed on FR-4. 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~$20 JLCPCB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FR4 has a glass transition temperature of 135 °C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Thermistors are used to measure the temperature of the board.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An external MOSFET controls current through the main traces. Resistance in the traces results in heat.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Individual well heating is possible but increases complexity.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Resistance of around 4 Ω, current draw of 1.25 A.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Total current draw of 5A, 25W power draw. </a:t>
            </a:r>
          </a:p>
        </p:txBody>
      </p:sp>
    </p:spTree>
    <p:extLst>
      <p:ext uri="{BB962C8B-B14F-4D97-AF65-F5344CB8AC3E}">
        <p14:creationId xmlns:p14="http://schemas.microsoft.com/office/powerpoint/2010/main" val="1129751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038">
            <a:extLst>
              <a:ext uri="{FF2B5EF4-FFF2-40B4-BE49-F238E27FC236}">
                <a16:creationId xmlns:a16="http://schemas.microsoft.com/office/drawing/2014/main" id="{796CD800-C8BF-41B5-983A-3B3D95FA99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ED36A27B-61AE-4AA1-8BD6-7310E072D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043" name="Straight Connector 1042">
            <a:extLst>
              <a:ext uri="{FF2B5EF4-FFF2-40B4-BE49-F238E27FC236}">
                <a16:creationId xmlns:a16="http://schemas.microsoft.com/office/drawing/2014/main" id="{511BC4C5-EB16-4C0B-83E6-96A39848CF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45" name="Rectangle 1044">
            <a:extLst>
              <a:ext uri="{FF2B5EF4-FFF2-40B4-BE49-F238E27FC236}">
                <a16:creationId xmlns:a16="http://schemas.microsoft.com/office/drawing/2014/main" id="{73B90B8B-F76B-4130-8370-38033EEAC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C5E7208-D6CC-BFF0-AD37-1344DD7E1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4679" y="634946"/>
            <a:ext cx="6405063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Arduino Interface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57242E4-CDD3-AB60-976A-E9C95F33A011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44" r="3" b="20367"/>
          <a:stretch>
            <a:fillRect/>
          </a:stretch>
        </p:blipFill>
        <p:spPr bwMode="auto">
          <a:xfrm>
            <a:off x="150049" y="946770"/>
            <a:ext cx="4792976" cy="2952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47" name="Straight Connector 1046">
            <a:extLst>
              <a:ext uri="{FF2B5EF4-FFF2-40B4-BE49-F238E27FC236}">
                <a16:creationId xmlns:a16="http://schemas.microsoft.com/office/drawing/2014/main" id="{C2D93264-3FF9-4175-A7FA-F927F0F77A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81247" y="2086188"/>
            <a:ext cx="5852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4" name="Picture 10" descr="Multiplexer 1 x 2:1 SC-88 (SC-70-6)">
            <a:extLst>
              <a:ext uri="{FF2B5EF4-FFF2-40B4-BE49-F238E27FC236}">
                <a16:creationId xmlns:a16="http://schemas.microsoft.com/office/drawing/2014/main" id="{BB47E485-97EE-E739-A7C2-B3FE4720E5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66" r="3" b="20944"/>
          <a:stretch>
            <a:fillRect/>
          </a:stretch>
        </p:blipFill>
        <p:spPr bwMode="auto">
          <a:xfrm>
            <a:off x="1103338" y="4066473"/>
            <a:ext cx="2436800" cy="1500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FF3E07F-AF7D-3A4C-75F9-7FEC837CEC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44679" y="2198914"/>
            <a:ext cx="6405063" cy="3670180"/>
          </a:xfrm>
        </p:spPr>
        <p:txBody>
          <a:bodyPr vert="horz" lIns="0" tIns="45720" rIns="0" bIns="45720" rtlCol="0">
            <a:normAutofit/>
          </a:bodyPr>
          <a:lstStyle/>
          <a:p>
            <a:pPr>
              <a:buFont typeface="Calibri" panose="020F0502020204030204" pitchFamily="34" charset="0"/>
              <a:buChar char="•"/>
            </a:pPr>
            <a:r>
              <a:rPr lang="en-US" dirty="0"/>
              <a:t>15 GPIO Pins will be required at minimum to control the module.</a:t>
            </a:r>
          </a:p>
          <a:p>
            <a:pPr>
              <a:buFont typeface="Calibri" panose="020F0502020204030204" pitchFamily="34" charset="0"/>
              <a:buChar char="•"/>
            </a:pPr>
            <a:r>
              <a:rPr lang="en-US" dirty="0"/>
              <a:t>An additional microcontroller can be used to minimize clutter / egregious wiring.  </a:t>
            </a:r>
          </a:p>
          <a:p>
            <a:pPr>
              <a:buFont typeface="Calibri" panose="020F0502020204030204" pitchFamily="34" charset="0"/>
              <a:buChar char="•"/>
            </a:pPr>
            <a:r>
              <a:rPr lang="en-US" dirty="0"/>
              <a:t>Communicates with Arduino via UART protocol. </a:t>
            </a:r>
          </a:p>
          <a:p>
            <a:pPr>
              <a:buFont typeface="Calibri" panose="020F0502020204030204" pitchFamily="34" charset="0"/>
              <a:buChar char="•"/>
            </a:pPr>
            <a:r>
              <a:rPr lang="en-US" dirty="0"/>
              <a:t>Integrated circuits, such as Multiplexers, can be used instead, although they increase design complexity. </a:t>
            </a:r>
          </a:p>
          <a:p>
            <a:pPr>
              <a:buFont typeface="Calibri" panose="020F0502020204030204" pitchFamily="34" charset="0"/>
              <a:buChar char="•"/>
            </a:pPr>
            <a:endParaRPr lang="en-US" dirty="0"/>
          </a:p>
          <a:p>
            <a:pPr>
              <a:buFont typeface="Calibri" panose="020F0502020204030204" pitchFamily="34" charset="0"/>
              <a:buChar char="•"/>
            </a:pPr>
            <a:endParaRPr lang="en-US" dirty="0"/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91C67939-3FD0-4B45-8AA4-9FE55C7EE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0981A96A-A87C-4F87-845A-3B0A6529F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396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D379150-F6B4-45C8-BE10-6B278AD40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FCF544-A370-4A5D-A95F-CA6E0E7191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EEB3B97-A638-498B-8083-54191CE71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84B70D5-875B-433D-BDBD-1522A85D6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43F662-332F-5106-2A8A-07F7ED160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5" y="634946"/>
            <a:ext cx="3690257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Planned Assembly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E807E6A-3779-F8BF-08A0-A31D5C7DAD0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33999" y="1353903"/>
            <a:ext cx="6909801" cy="3886762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947DF4A-614C-4B4C-8B80-E5B9D8E8C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92143" y="2085703"/>
            <a:ext cx="3566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C2EBDE-20B8-0CCE-0C8A-531A4D4818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59485" y="2198914"/>
            <a:ext cx="3690257" cy="3670180"/>
          </a:xfrm>
        </p:spPr>
        <p:txBody>
          <a:bodyPr vert="horz" lIns="0" tIns="45720" rIns="0" bIns="45720" rtlCol="0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Standoffs separate motor housing, heating pads, and vial wells. Isolating heat to the pads.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Printed out of a filament able to withstand ~100 °C, HTPLA or PC.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heating pads do not interfere with the magnets due to the properties of FR-4.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 be scaled down to accommodate 24 vials.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E299956-A9E7-4FC1-A0B1-D590CA9730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7FC539C-B783-4B03-9F9E-D13430F3F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522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4702DC4-6343-B177-3A0F-0D9B14BDC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Roadmap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3D2892-05FE-3515-C7CC-F9B98D5FC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Research and design. </a:t>
            </a:r>
          </a:p>
          <a:p>
            <a:pPr marL="806958" lvl="1" indent="-514350"/>
            <a:r>
              <a:rPr lang="en-US" dirty="0"/>
              <a:t>Motor housing .</a:t>
            </a:r>
          </a:p>
          <a:p>
            <a:pPr marL="806958" lvl="1" indent="-514350"/>
            <a:r>
              <a:rPr lang="en-US" dirty="0"/>
              <a:t>Power distribution.</a:t>
            </a:r>
          </a:p>
          <a:p>
            <a:pPr marL="806958" lvl="1" indent="-514350"/>
            <a:r>
              <a:rPr lang="en-US" dirty="0"/>
              <a:t>Microcontroller interface and circuitry. </a:t>
            </a:r>
          </a:p>
          <a:p>
            <a:pPr marL="806958" lvl="1" indent="-514350"/>
            <a:r>
              <a:rPr lang="en-US" dirty="0"/>
              <a:t>Component selection.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Testing/Verification</a:t>
            </a:r>
          </a:p>
          <a:p>
            <a:pPr marL="749808" lvl="1" indent="-457200"/>
            <a:r>
              <a:rPr lang="en-US" dirty="0"/>
              <a:t>Breadboarding, motor and heating circuitry.</a:t>
            </a:r>
          </a:p>
          <a:p>
            <a:pPr marL="749808" lvl="1" indent="-457200"/>
            <a:r>
              <a:rPr lang="en-US" dirty="0"/>
              <a:t>PWM control. </a:t>
            </a:r>
          </a:p>
          <a:p>
            <a:pPr marL="749808" lvl="1" indent="-457200"/>
            <a:r>
              <a:rPr lang="en-US" dirty="0"/>
              <a:t>Component ordering. </a:t>
            </a:r>
          </a:p>
          <a:p>
            <a:pPr marL="749808" lvl="1" indent="-457200"/>
            <a:r>
              <a:rPr lang="en-US" dirty="0"/>
              <a:t>Motor housing. </a:t>
            </a:r>
          </a:p>
          <a:p>
            <a:pPr marL="749808" lvl="1" indent="-457200"/>
            <a:endParaRPr lang="en-US" dirty="0"/>
          </a:p>
          <a:p>
            <a:pPr marL="749808" lvl="1" indent="-457200"/>
            <a:endParaRPr lang="en-US" dirty="0"/>
          </a:p>
          <a:p>
            <a:pPr marL="749808" lvl="1" indent="-457200"/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Programming </a:t>
            </a:r>
          </a:p>
          <a:p>
            <a:pPr marL="749808" lvl="1" indent="-457200"/>
            <a:r>
              <a:rPr lang="en-US" dirty="0"/>
              <a:t>Microcontroller interface.</a:t>
            </a:r>
          </a:p>
          <a:p>
            <a:pPr marL="749808" lvl="1" indent="-457200"/>
            <a:r>
              <a:rPr lang="en-US" dirty="0"/>
              <a:t>UART communication.</a:t>
            </a:r>
          </a:p>
          <a:p>
            <a:pPr marL="749808" lvl="1" indent="-457200"/>
            <a:r>
              <a:rPr lang="en-US" dirty="0"/>
              <a:t>Python integration.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Assembly</a:t>
            </a:r>
          </a:p>
          <a:p>
            <a:pPr marL="749808" lvl="1" indent="-457200"/>
            <a:r>
              <a:rPr lang="en-US" dirty="0"/>
              <a:t>Custom PCB’s for motor and heating circuitry?</a:t>
            </a:r>
          </a:p>
          <a:p>
            <a:pPr marL="749808" lvl="1" indent="-457200"/>
            <a:r>
              <a:rPr lang="en-US" dirty="0"/>
              <a:t>Mounting on Jubilee.</a:t>
            </a:r>
          </a:p>
          <a:p>
            <a:pPr marL="749808" lvl="1" indent="-457200"/>
            <a:r>
              <a:rPr lang="en-US" dirty="0"/>
              <a:t>Soldering components.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Documentation</a:t>
            </a:r>
          </a:p>
          <a:p>
            <a:pPr marL="749808" lvl="1" indent="-457200"/>
            <a:r>
              <a:rPr lang="en-US" dirty="0"/>
              <a:t>Operating manual.</a:t>
            </a:r>
          </a:p>
          <a:p>
            <a:pPr marL="749808" lvl="1" indent="-457200"/>
            <a:r>
              <a:rPr lang="en-US" dirty="0"/>
              <a:t>Schematics. </a:t>
            </a:r>
          </a:p>
          <a:p>
            <a:pPr marL="749808" lvl="1" indent="-457200"/>
            <a:r>
              <a:rPr lang="en-US" dirty="0"/>
              <a:t>Training.</a:t>
            </a:r>
          </a:p>
          <a:p>
            <a:pPr marL="749808" lvl="1" indent="-45720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40497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120</TotalTime>
  <Words>522</Words>
  <Application>Microsoft Office PowerPoint</Application>
  <PresentationFormat>Widescreen</PresentationFormat>
  <Paragraphs>84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Retrospect</vt:lpstr>
      <vt:lpstr>Well Heating and Stirring Module Proposal</vt:lpstr>
      <vt:lpstr>Requirements</vt:lpstr>
      <vt:lpstr>Stirring methods</vt:lpstr>
      <vt:lpstr>Motor Driven Stirring</vt:lpstr>
      <vt:lpstr>Electric Motor Control </vt:lpstr>
      <vt:lpstr>Programmable Heating</vt:lpstr>
      <vt:lpstr>Arduino Interface</vt:lpstr>
      <vt:lpstr>Planned Assembly</vt:lpstr>
      <vt:lpstr>Roadmap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Rudy P Heredia-Jantz</dc:creator>
  <cp:lastModifiedBy>Rudy P Heredia-Jantz</cp:lastModifiedBy>
  <cp:revision>5</cp:revision>
  <dcterms:created xsi:type="dcterms:W3CDTF">2026-01-27T19:58:24Z</dcterms:created>
  <dcterms:modified xsi:type="dcterms:W3CDTF">2026-01-27T21:58:49Z</dcterms:modified>
</cp:coreProperties>
</file>