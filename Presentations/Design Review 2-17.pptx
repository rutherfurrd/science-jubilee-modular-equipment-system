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465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6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89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5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2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6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0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3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5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9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7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BF9A642-9E6F-4E40-B558-D37C955C43E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76D292-7939-416D-8FFB-1F0EEAC42E7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09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4E33-EB11-711A-8704-845985069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Stirring/Heating Module Design Review #1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18488-5A6B-2418-349C-7C4CA55241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February 17</a:t>
            </a:r>
            <a:r>
              <a:rPr lang="en-US" baseline="30000" dirty="0"/>
              <a:t>th</a:t>
            </a:r>
            <a:r>
              <a:rPr lang="en-US" dirty="0"/>
              <a:t>, 2026</a:t>
            </a:r>
          </a:p>
          <a:p>
            <a:r>
              <a:rPr lang="en-US" dirty="0"/>
              <a:t>Rudy Heredia-Jantz</a:t>
            </a:r>
          </a:p>
        </p:txBody>
      </p:sp>
    </p:spTree>
    <p:extLst>
      <p:ext uri="{BB962C8B-B14F-4D97-AF65-F5344CB8AC3E}">
        <p14:creationId xmlns:p14="http://schemas.microsoft.com/office/powerpoint/2010/main" val="353566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EB1B-D007-5878-6B2E-E0E26BBDB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Hot Plate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B7AE3-BEAA-4AEA-4879-6315FB3190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Adjusted heating element routing to follow shape of vial wells.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Added mounting holes for M2 standoffs.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Adjusted placement of wire contacts to minimize interference with magnet housing.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Two layer design allows for thermistors to read “true” surface temperature of the hot plate.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C2EC6A-3CA3-ED0D-D3EA-AD00FB69B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578" y="1845628"/>
            <a:ext cx="1407475" cy="3981861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6DBCCEA-EE4F-FC29-2BB5-69EAF2CD6A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442799" y="1825195"/>
            <a:ext cx="188477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9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FBE38-9E6F-196E-ECCE-407B838B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Motor Housing Cover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9DE213-AB3C-3308-31AE-8BEAEE5F88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3999" y="870216"/>
            <a:ext cx="6909801" cy="4854135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CF962-C5B2-AD65-4E6D-37CF60241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Calibri" panose="020F0502020204030204" pitchFamily="34" charset="0"/>
              <a:buChar char="•"/>
            </a:pPr>
            <a:r>
              <a:rPr lang="en-US"/>
              <a:t> Protects motor housing internals in the event of a spill. </a:t>
            </a:r>
          </a:p>
          <a:p>
            <a:pPr lvl="1">
              <a:buFont typeface="Calibri" panose="020F0502020204030204" pitchFamily="34" charset="0"/>
              <a:buChar char="•"/>
            </a:pPr>
            <a:r>
              <a:rPr lang="en-US"/>
              <a:t>Beveled edges and shaft “necks” move liquids away from openings. 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/>
              <a:t> Standoffs are to be mounted using threaded inserts placed around the edge.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/>
              <a:t> Mounts to main housing with M2 screws.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70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87824-26ED-3608-6BBF-0B20CD2AE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Updated Motor Housing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B94FB0-CCFE-E96D-C3CA-7DFAC6E000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3927" y="640081"/>
            <a:ext cx="6769945" cy="531440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D27DD-4BBE-3A67-44F0-72838581D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Calibri" panose="020F0502020204030204" pitchFamily="34" charset="0"/>
              <a:buChar char="•"/>
            </a:pPr>
            <a:r>
              <a:rPr lang="en-US"/>
              <a:t> Added several access holes for inbound, outbound, and motor wiring. </a:t>
            </a:r>
          </a:p>
          <a:p>
            <a:pPr lvl="1">
              <a:buFont typeface="Calibri" panose="020F0502020204030204" pitchFamily="34" charset="0"/>
              <a:buChar char="•"/>
            </a:pPr>
            <a:r>
              <a:rPr lang="en-US"/>
              <a:t>Could be replaced with connectors. 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/>
              <a:t> Threaded inserts allow the lid to be secured to the main housing. 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/>
              <a:t> Lip ensures that the housing and lid are properly aligned.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86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48A38-6A95-2961-F01A-AEB4D35F3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Updated Vial Wells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FDDC67-513A-5A61-D797-FC0FE864FF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27198" y="645106"/>
            <a:ext cx="4683614" cy="524774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005E-EECB-489A-B435-9978E8113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Calibri" panose="020F0502020204030204" pitchFamily="34" charset="0"/>
              <a:buChar char="•"/>
            </a:pPr>
            <a:r>
              <a:rPr lang="en-US" dirty="0"/>
              <a:t> The vial well will be mounted to standoffs through countersunk screw holes. </a:t>
            </a:r>
            <a:endParaRPr lang="en-US"/>
          </a:p>
          <a:p>
            <a:pPr>
              <a:buFont typeface="Calibri" panose="020F0502020204030204" pitchFamily="34" charset="0"/>
              <a:buChar char="•"/>
            </a:pPr>
            <a:r>
              <a:rPr lang="en-US" dirty="0"/>
              <a:t> Extra material was added to prevent cracking/deformation around the screws. </a:t>
            </a:r>
            <a:endParaRPr lang="en-US"/>
          </a:p>
          <a:p>
            <a:pPr lvl="1">
              <a:buFont typeface="Calibri" panose="020F0502020204030204" pitchFamily="34" charset="0"/>
              <a:buChar char="•"/>
            </a:pPr>
            <a:r>
              <a:rPr lang="en-US" dirty="0"/>
              <a:t>The extra material will not interfere with adjacent modules/wells. 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5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1665C-4DB8-26D7-EE18-DBFCF7D3F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Updated Assembly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4805F6-1A9F-AA7F-8744-554CF085A5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3999" y="922040"/>
            <a:ext cx="6909801" cy="475048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79150-1ACB-E3EC-879E-1161B908A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Calibri" panose="020F0502020204030204" pitchFamily="34" charset="0"/>
              <a:buChar char="•"/>
            </a:pPr>
            <a:r>
              <a:rPr lang="en-US" sz="1700" dirty="0"/>
              <a:t> For the time being, this is what the final module with look like. </a:t>
            </a:r>
          </a:p>
          <a:p>
            <a:pPr lvl="1">
              <a:buFont typeface="Calibri" panose="020F0502020204030204" pitchFamily="34" charset="0"/>
              <a:buChar char="•"/>
            </a:pPr>
            <a:r>
              <a:rPr lang="en-US" sz="1700" dirty="0"/>
              <a:t>Slight modification will be made to account for changes in electrical design. 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sz="1700" dirty="0"/>
              <a:t> Standoffs must still be sourced and selected. </a:t>
            </a:r>
          </a:p>
          <a:p>
            <a:pPr lvl="1">
              <a:buFont typeface="Calibri" panose="020F0502020204030204" pitchFamily="34" charset="0"/>
              <a:buChar char="•"/>
            </a:pPr>
            <a:r>
              <a:rPr lang="en-US" sz="1700" dirty="0"/>
              <a:t>Polymer vs. metal standoffs, matter of electrical and thermal conductivity. 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sz="1700" dirty="0"/>
              <a:t> Benson Hall / </a:t>
            </a:r>
            <a:r>
              <a:rPr lang="en-US" sz="1700" dirty="0" err="1"/>
              <a:t>ChemE</a:t>
            </a:r>
            <a:r>
              <a:rPr lang="en-US" sz="1700" dirty="0"/>
              <a:t> prototyping capabilities?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5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TM32H533RE Nucleo-64 STM32H5 ARM® Cortex®-M33 MCU 32-Bit Embedded Evaluation Board">
            <a:extLst>
              <a:ext uri="{FF2B5EF4-FFF2-40B4-BE49-F238E27FC236}">
                <a16:creationId xmlns:a16="http://schemas.microsoft.com/office/drawing/2014/main" id="{A4AD15F7-D1D5-38CF-FAA1-5DEB0F67941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828" y="2182511"/>
            <a:ext cx="2146200" cy="214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M32L412 Nucleo-32 STM32L4 ARM® Cortex®-M4 MCU 32-Bit Embedded Evaluation Board">
            <a:extLst>
              <a:ext uri="{FF2B5EF4-FFF2-40B4-BE49-F238E27FC236}">
                <a16:creationId xmlns:a16="http://schemas.microsoft.com/office/drawing/2014/main" id="{2C61F6BB-046C-9917-0A5B-14154B6BE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028" y="2176635"/>
            <a:ext cx="1792463" cy="17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31F32C-0689-2310-BD54-7EAFC4BB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57EA4-4FE4-A763-A5EB-5CBC3DEDCD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After our last meeting I began looking into a modular/expandable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Central STM32H533RE MC, smaller STM32L412KB MC’s inside each module.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“Plug and play” can be implemented with I2C.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Would require custom housing / user interface.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Display, rotary encoder, selector buttons?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Standalone operation (Physical), </a:t>
            </a:r>
            <a:r>
              <a:rPr lang="en-US" dirty="0" err="1"/>
              <a:t>Rasberry</a:t>
            </a:r>
            <a:r>
              <a:rPr lang="en-US" dirty="0"/>
              <a:t> Pi integration (UART), computer interface (Serial-USB).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Future module support.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FC05D9-532A-F2E0-3D42-CB2DBBF3C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688" y="4204824"/>
            <a:ext cx="3576679" cy="166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9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42F8-8BF4-30EF-7648-8A16DA74C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Concerns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F765C-C08E-8C95-5EE1-6761CB77D1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~146W minimum power consumption.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29 A @ 5V.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6 H&amp;S Module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Requires an external AC-DC power converter.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Safety measures must be put in place to ensure user and component wellbeing.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Fuses, emergency stop/contactor, pre/dis-charge circuits, ample grounding.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The hotplate currently consumes the most power.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Power consumption can be reduced, tradeoff is maximum temperature &amp; rate of temperature change. </a:t>
            </a:r>
          </a:p>
        </p:txBody>
      </p:sp>
      <p:pic>
        <p:nvPicPr>
          <p:cNvPr id="2054" name="Picture 6" descr="Enclosed AC DC Converters 1 Output 5V 90 ~ 132 VAC, 180 ~ 264 VAC, 240 ~ 370 VDC Input">
            <a:extLst>
              <a:ext uri="{FF2B5EF4-FFF2-40B4-BE49-F238E27FC236}">
                <a16:creationId xmlns:a16="http://schemas.microsoft.com/office/drawing/2014/main" id="{81FFCDD6-BA29-0F67-65EF-68EFD64E7A0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258" y="1791672"/>
            <a:ext cx="2846447" cy="284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A741F-1878-9178-D253-746E3615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461" y="4403575"/>
            <a:ext cx="3901529" cy="10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0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CBC2-455D-A231-D534-7E7943D8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84044D-1D24-1939-0BA0-5680D08D8A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28011" y="1846263"/>
            <a:ext cx="2876616" cy="402272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BC15B-73D3-3493-60BA-82556B2B8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3099" y="1845735"/>
            <a:ext cx="5812581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Internal module circuitry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 current PWM, MOSFET limitations.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Power management and distribution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Thermistor ADC’s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Control hub circuitry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User interface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Power distribution, safety measures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 hub housing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Wiring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Wire gauge, current rating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Connectors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8534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1018</TotalTime>
  <Words>475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Stirring/Heating Module Design Review #1 </vt:lpstr>
      <vt:lpstr>Updated Hot Plate</vt:lpstr>
      <vt:lpstr>Motor Housing Cover</vt:lpstr>
      <vt:lpstr>Updated Motor Housing</vt:lpstr>
      <vt:lpstr>Updated Vial Wells</vt:lpstr>
      <vt:lpstr>Updated Assembly</vt:lpstr>
      <vt:lpstr>Modularity</vt:lpstr>
      <vt:lpstr>Power Concerns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P Heredia-Jantz</dc:creator>
  <cp:lastModifiedBy>Rudy P Heredia-Jantz</cp:lastModifiedBy>
  <cp:revision>5</cp:revision>
  <dcterms:created xsi:type="dcterms:W3CDTF">2026-02-17T05:04:42Z</dcterms:created>
  <dcterms:modified xsi:type="dcterms:W3CDTF">2026-02-17T22:02:45Z</dcterms:modified>
</cp:coreProperties>
</file>