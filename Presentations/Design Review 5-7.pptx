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73" r:id="rId3"/>
    <p:sldMasterId id="2147483680" r:id="rId4"/>
    <p:sldMasterId id="214748368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13278-A44F-857B-4634-DB4B37516D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833" y="1449112"/>
            <a:ext cx="9296400" cy="3522341"/>
          </a:xfrm>
          <a:prstGeom prst="rect">
            <a:avLst/>
          </a:prstGeom>
        </p:spPr>
        <p:txBody>
          <a:bodyPr/>
          <a:lstStyle>
            <a:lvl1pPr algn="l">
              <a:spcBef>
                <a:spcPts val="1600"/>
              </a:spcBef>
              <a:defRPr lang="en-US" sz="6667" b="0" i="0" kern="1200" baseline="0" dirty="0" smtClean="0">
                <a:solidFill>
                  <a:schemeClr val="tx1"/>
                </a:solidFill>
                <a:latin typeface="Encode Sans Normal Black"/>
                <a:ea typeface="+mn-ea"/>
                <a:cs typeface="Encode Sans Normal Black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2" y="6132143"/>
            <a:ext cx="3221697" cy="283315"/>
          </a:xfrm>
          <a:prstGeom prst="rect">
            <a:avLst/>
          </a:prstGeom>
        </p:spPr>
      </p:pic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3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1449112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1011358"/>
            <a:ext cx="3386655" cy="229748"/>
          </a:xfrm>
          <a:prstGeom prst="rect">
            <a:avLst/>
          </a:prstGeom>
        </p:spPr>
      </p:pic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6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357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9" y="1819205"/>
            <a:ext cx="1471708" cy="128481"/>
          </a:xfrm>
          <a:prstGeom prst="rect">
            <a:avLst/>
          </a:prstGeom>
        </p:spPr>
      </p:pic>
      <p:sp>
        <p:nvSpPr>
          <p:cNvPr id="1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5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75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9" y="1819205"/>
            <a:ext cx="1471708" cy="128481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8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5348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9" y="1819205"/>
            <a:ext cx="1471708" cy="128481"/>
          </a:xfrm>
          <a:prstGeom prst="rect">
            <a:avLst/>
          </a:prstGeom>
        </p:spPr>
      </p:pic>
      <p:sp>
        <p:nvSpPr>
          <p:cNvPr id="8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5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66ED-2F6E-8B9A-B382-99349A405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626C8-DD9F-F417-4E7C-7B8CC5DC9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06E3-57A2-6905-E0BA-27298FD4B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5DE0D-661B-488B-9D9C-96732ACEAB0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360E-14DA-772B-0652-FE4AC36D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A7E3-2966-CED3-BBB9-99D3AAF7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8AF4-1903-467E-80FC-EB159D47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819" y="1449112"/>
            <a:ext cx="9297415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2" y="6132143"/>
            <a:ext cx="3221697" cy="283315"/>
          </a:xfrm>
          <a:prstGeom prst="rect">
            <a:avLst/>
          </a:prstGeom>
        </p:spPr>
      </p:pic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3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1449112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1011358"/>
            <a:ext cx="3386655" cy="2297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3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503145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2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3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22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5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27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613827" y="2338804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18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42" y="6131476"/>
            <a:ext cx="3221697" cy="2846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ENCODE NORMAL BLACK, 50 PT.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1" y="6234041"/>
            <a:ext cx="3386667" cy="2297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39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1" y="495348"/>
            <a:ext cx="10929485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9" name="Pictur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49" y="6234041"/>
            <a:ext cx="3386667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00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1" y="492978"/>
            <a:ext cx="10929485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31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+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416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6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7708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rgbClr val="FFFFFF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49" y="6234041"/>
            <a:ext cx="3386667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42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66ED-2F6E-8B9A-B382-99349A405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626C8-DD9F-F417-4E7C-7B8CC5DC9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06E3-57A2-6905-E0BA-27298FD4B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5DE0D-661B-488B-9D9C-96732ACEAB0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360E-14DA-772B-0652-FE4AC36D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A7E3-2966-CED3-BBB9-99D3AAF7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8AF4-1903-467E-80FC-EB159D47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519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2" y="4568599"/>
            <a:ext cx="2129919" cy="186267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2" y="6132143"/>
            <a:ext cx="3221697" cy="283315"/>
          </a:xfrm>
          <a:prstGeom prst="rect">
            <a:avLst/>
          </a:prstGeom>
        </p:spPr>
      </p:pic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83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2" y="4568599"/>
            <a:ext cx="2129919" cy="186267"/>
          </a:xfrm>
          <a:prstGeom prst="rect">
            <a:avLst/>
          </a:prstGeom>
        </p:spPr>
      </p:pic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6234041"/>
            <a:ext cx="3386655" cy="229748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5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76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6" y="1818011"/>
            <a:ext cx="1453460" cy="128483"/>
          </a:xfrm>
          <a:prstGeom prst="rect">
            <a:avLst/>
          </a:prstGeom>
        </p:spPr>
      </p:pic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5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35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6" y="1818011"/>
            <a:ext cx="1453460" cy="128483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15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508812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6" y="1818011"/>
            <a:ext cx="1453460" cy="128483"/>
          </a:xfrm>
          <a:prstGeom prst="rect">
            <a:avLst/>
          </a:prstGeom>
        </p:spPr>
      </p:pic>
      <p:sp>
        <p:nvSpPr>
          <p:cNvPr id="8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4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1" y="6132013"/>
            <a:ext cx="3233635" cy="284364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509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5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6234041"/>
            <a:ext cx="3386655" cy="229748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03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0" y="492381"/>
            <a:ext cx="10929479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2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26" name="Pictur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0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416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22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469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7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8D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" t="38360" r="13252" b="30129"/>
          <a:stretch/>
        </p:blipFill>
        <p:spPr>
          <a:xfrm>
            <a:off x="0" y="0"/>
            <a:ext cx="12192000" cy="3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2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" t="38360" r="13252" b="30129"/>
          <a:stretch/>
        </p:blipFill>
        <p:spPr>
          <a:xfrm>
            <a:off x="0" y="0"/>
            <a:ext cx="12192000" cy="3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9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43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2CA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23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27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557336D-E166-E5DF-D0D8-2A2DF261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33" y="859991"/>
            <a:ext cx="9296400" cy="3522341"/>
          </a:xfrm>
        </p:spPr>
        <p:txBody>
          <a:bodyPr/>
          <a:lstStyle/>
          <a:p>
            <a:r>
              <a:rPr lang="en-US" dirty="0"/>
              <a:t>Heating and Stirring Module Design Review #5</a:t>
            </a:r>
          </a:p>
        </p:txBody>
      </p:sp>
    </p:spTree>
    <p:extLst>
      <p:ext uri="{BB962C8B-B14F-4D97-AF65-F5344CB8AC3E}">
        <p14:creationId xmlns:p14="http://schemas.microsoft.com/office/powerpoint/2010/main" val="2592196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08DD-CFBE-2261-13C9-BA4D6C1F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&amp; Stirring PCB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E0AF5-8A17-F0D5-CF50-781B2AC8B6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2501" y="2176817"/>
            <a:ext cx="6817057" cy="4067033"/>
          </a:xfrm>
        </p:spPr>
        <p:txBody>
          <a:bodyPr/>
          <a:lstStyle/>
          <a:p>
            <a:r>
              <a:rPr lang="en-US" dirty="0"/>
              <a:t>Finished routing 4-layer board</a:t>
            </a:r>
          </a:p>
          <a:p>
            <a:r>
              <a:rPr lang="en-US" dirty="0"/>
              <a:t>Mainly SMD components, to be assembled by hand</a:t>
            </a:r>
          </a:p>
          <a:p>
            <a:r>
              <a:rPr lang="en-US" dirty="0"/>
              <a:t>Designed around NUCLEO-G431KB Development board</a:t>
            </a:r>
          </a:p>
          <a:p>
            <a:r>
              <a:rPr lang="en-US" dirty="0"/>
              <a:t>$7 order, 5 board MOQ.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4CB1E-8C25-3805-2421-FEE2135C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33" y="2121281"/>
            <a:ext cx="4433209" cy="42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5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7639C-BBFB-AA02-93A9-5C1CB256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&amp; Stirring PCB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8D244-5DE1-CB05-1B2F-67036F1EE0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8691" y="2025665"/>
            <a:ext cx="5691118" cy="3154535"/>
          </a:xfrm>
        </p:spPr>
        <p:txBody>
          <a:bodyPr/>
          <a:lstStyle/>
          <a:p>
            <a:r>
              <a:rPr lang="en-US" sz="2400" dirty="0"/>
              <a:t>Slides directly over motor housing.</a:t>
            </a:r>
          </a:p>
          <a:p>
            <a:r>
              <a:rPr lang="en-US" sz="2400" dirty="0"/>
              <a:t>Motor housing requires alteration to account for connector placement.</a:t>
            </a:r>
          </a:p>
          <a:p>
            <a:r>
              <a:rPr lang="en-US" sz="2400" dirty="0"/>
              <a:t>Solder pads for motor connection limits repairability, lowers cost. </a:t>
            </a:r>
          </a:p>
          <a:p>
            <a:r>
              <a:rPr lang="en-US" sz="2400" dirty="0"/>
              <a:t>Ventilation?</a:t>
            </a:r>
          </a:p>
          <a:p>
            <a:r>
              <a:rPr lang="en-US" sz="2400" dirty="0"/>
              <a:t>EMI Concerns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9FA5-826B-0FE1-D2F4-5832E2FB6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23280" y="3014655"/>
            <a:ext cx="4131289" cy="2806670"/>
          </a:xfrm>
          <a:prstGeom prst="rect">
            <a:avLst/>
          </a:prstGeom>
        </p:spPr>
      </p:pic>
      <p:pic>
        <p:nvPicPr>
          <p:cNvPr id="9" name="Picture 8" descr="rf - DC brush motor EMI - Electrical Engineering Stack Exchange">
            <a:extLst>
              <a:ext uri="{FF2B5EF4-FFF2-40B4-BE49-F238E27FC236}">
                <a16:creationId xmlns:a16="http://schemas.microsoft.com/office/drawing/2014/main" id="{F8F1A6EB-284B-4773-63B6-854996BF1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700" y="2822974"/>
            <a:ext cx="3227804" cy="261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6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392D-E3D5-86B8-7119-BC3F2DF4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Hub PCB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05C1B-1594-1CCB-019B-053FE064E2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0057" y="1920660"/>
            <a:ext cx="6393976" cy="3154535"/>
          </a:xfrm>
        </p:spPr>
        <p:txBody>
          <a:bodyPr/>
          <a:lstStyle/>
          <a:p>
            <a:r>
              <a:rPr lang="en-US" dirty="0"/>
              <a:t>Based on NUCLEO-C071RB development board.</a:t>
            </a:r>
          </a:p>
          <a:p>
            <a:r>
              <a:rPr lang="en-US" dirty="0"/>
              <a:t>~25A max draw, multi-plane power bus. </a:t>
            </a:r>
          </a:p>
          <a:p>
            <a:r>
              <a:rPr lang="en-US" dirty="0"/>
              <a:t>Limited power output, ~100W/module fully loaded.</a:t>
            </a:r>
          </a:p>
          <a:p>
            <a:r>
              <a:rPr lang="en-US" dirty="0"/>
              <a:t>Fused main and module lines, emergency stop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139FB4-6FDB-8BC9-8312-81FD75B7C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67" y="2307557"/>
            <a:ext cx="3871473" cy="386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79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087F-94EA-95F9-CAF7-E66872DD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Hub PCB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8F8C3-88F8-B2A2-2501-3D6A1330D1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15465" y="2307557"/>
            <a:ext cx="5611251" cy="3154535"/>
          </a:xfrm>
        </p:spPr>
        <p:txBody>
          <a:bodyPr/>
          <a:lstStyle/>
          <a:p>
            <a:r>
              <a:rPr lang="en-US" sz="2800" dirty="0"/>
              <a:t>Mounting plate, M3 screws + standoffs.</a:t>
            </a:r>
          </a:p>
          <a:p>
            <a:r>
              <a:rPr lang="en-US" sz="2800" dirty="0"/>
              <a:t>Terminal-style main connection. </a:t>
            </a:r>
          </a:p>
          <a:p>
            <a:r>
              <a:rPr lang="en-US" sz="2800" dirty="0"/>
              <a:t>MCU is over-spec, could be downsized to reduce footprint.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67A7C2-033F-3129-DFCB-37E286258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82" y="2109314"/>
            <a:ext cx="4976354" cy="442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4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1C7D-27D2-668D-5654-17CBD211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CAN-Bus vs I2C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A3652-C8AE-79A4-DEA8-BACC277964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4477" y="2053076"/>
            <a:ext cx="6458143" cy="3733119"/>
          </a:xfrm>
        </p:spPr>
        <p:txBody>
          <a:bodyPr/>
          <a:lstStyle/>
          <a:p>
            <a:r>
              <a:rPr lang="en-US" sz="2400" dirty="0"/>
              <a:t>H&amp;S modules will be extremely noisy.</a:t>
            </a:r>
          </a:p>
          <a:p>
            <a:r>
              <a:rPr lang="en-US" sz="2400" dirty="0"/>
              <a:t>I2C is noise sensitive, resulting in packet loss.</a:t>
            </a:r>
          </a:p>
          <a:p>
            <a:r>
              <a:rPr lang="en-US" sz="2400" dirty="0"/>
              <a:t>CAN-Bus is noise resistant by nature.</a:t>
            </a:r>
          </a:p>
          <a:p>
            <a:pPr lvl="1"/>
            <a:r>
              <a:rPr lang="en-US" sz="2400" dirty="0"/>
              <a:t>Requires extra IC.</a:t>
            </a:r>
          </a:p>
          <a:p>
            <a:pPr lvl="1"/>
            <a:r>
              <a:rPr lang="en-US" sz="2400" dirty="0"/>
              <a:t>Reduces connector positions.</a:t>
            </a:r>
          </a:p>
          <a:p>
            <a:pPr lvl="1"/>
            <a:r>
              <a:rPr lang="en-US" sz="2400" dirty="0"/>
              <a:t>Modules can be “chained” together. </a:t>
            </a:r>
          </a:p>
          <a:p>
            <a:pPr lvl="1"/>
            <a:r>
              <a:rPr lang="en-US" sz="2400" dirty="0"/>
              <a:t>Slightly slower transmission speeds, negligible in our case.</a:t>
            </a:r>
          </a:p>
        </p:txBody>
      </p:sp>
      <p:pic>
        <p:nvPicPr>
          <p:cNvPr id="4" name="Picture 3" descr="Introduction | CAN Bus Pt1 | DesignSpark">
            <a:extLst>
              <a:ext uri="{FF2B5EF4-FFF2-40B4-BE49-F238E27FC236}">
                <a16:creationId xmlns:a16="http://schemas.microsoft.com/office/drawing/2014/main" id="{C43FCCDD-DFA3-489C-6B27-C68CC6602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60" y="2106945"/>
            <a:ext cx="3130519" cy="2164806"/>
          </a:xfrm>
          <a:prstGeom prst="rect">
            <a:avLst/>
          </a:prstGeom>
        </p:spPr>
      </p:pic>
      <p:pic>
        <p:nvPicPr>
          <p:cNvPr id="5" name="Picture 4" descr="I2C Primer: What is I2C? (Part 1) | Analog Devices">
            <a:extLst>
              <a:ext uri="{FF2B5EF4-FFF2-40B4-BE49-F238E27FC236}">
                <a16:creationId xmlns:a16="http://schemas.microsoft.com/office/drawing/2014/main" id="{4E5B5C11-E827-2719-70DC-D081AB477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64" y="4560685"/>
            <a:ext cx="4296487" cy="15948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C9C50A-3965-E1F0-5B85-A9F0FDA6BFAC}"/>
              </a:ext>
            </a:extLst>
          </p:cNvPr>
          <p:cNvSpPr txBox="1"/>
          <p:nvPr/>
        </p:nvSpPr>
        <p:spPr>
          <a:xfrm>
            <a:off x="1473958" y="4245202"/>
            <a:ext cx="313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CAN-BUS Timing Diagram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30B21-5118-E748-5DB6-91069C14FCA2}"/>
              </a:ext>
            </a:extLst>
          </p:cNvPr>
          <p:cNvSpPr txBox="1"/>
          <p:nvPr/>
        </p:nvSpPr>
        <p:spPr>
          <a:xfrm>
            <a:off x="1801503" y="6040676"/>
            <a:ext cx="313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I2C Timing Diagram</a:t>
            </a:r>
          </a:p>
        </p:txBody>
      </p:sp>
    </p:spTree>
    <p:extLst>
      <p:ext uri="{BB962C8B-B14F-4D97-AF65-F5344CB8AC3E}">
        <p14:creationId xmlns:p14="http://schemas.microsoft.com/office/powerpoint/2010/main" val="107449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2DE6-CAC8-C4B5-EB04-1B63F842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D436A-9704-3703-5640-D087A9FF75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4276" y="2020954"/>
            <a:ext cx="10929485" cy="3154535"/>
          </a:xfrm>
        </p:spPr>
        <p:txBody>
          <a:bodyPr/>
          <a:lstStyle/>
          <a:p>
            <a:r>
              <a:rPr lang="en-US" sz="2800" dirty="0"/>
              <a:t>Implement CAN-Bus.</a:t>
            </a:r>
          </a:p>
          <a:p>
            <a:pPr lvl="1"/>
            <a:r>
              <a:rPr lang="en-US" sz="2800" dirty="0"/>
              <a:t>CAN Transceivers</a:t>
            </a:r>
          </a:p>
          <a:p>
            <a:pPr lvl="1"/>
            <a:r>
              <a:rPr lang="en-US" sz="2800" dirty="0"/>
              <a:t>Hot-swappable terminating resistors</a:t>
            </a:r>
          </a:p>
          <a:p>
            <a:r>
              <a:rPr lang="en-US" sz="2800" dirty="0"/>
              <a:t>Alter housing to account for PCB changes.</a:t>
            </a:r>
          </a:p>
          <a:p>
            <a:pPr lvl="1"/>
            <a:r>
              <a:rPr lang="en-US" sz="2800" dirty="0"/>
              <a:t>Ventilation</a:t>
            </a:r>
          </a:p>
          <a:p>
            <a:pPr lvl="1"/>
            <a:r>
              <a:rPr lang="en-US" sz="2800" dirty="0"/>
              <a:t>Connector sizing</a:t>
            </a:r>
          </a:p>
          <a:p>
            <a:pPr lvl="1"/>
            <a:r>
              <a:rPr lang="en-US" sz="2800" dirty="0"/>
              <a:t>Button/Screen placement</a:t>
            </a:r>
          </a:p>
          <a:p>
            <a:r>
              <a:rPr lang="en-US" sz="2800" dirty="0"/>
              <a:t>Verify high-current design with experienced peers.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86519976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PPT_Template_16x9-Angle_a11y</Template>
  <TotalTime>3108</TotalTime>
  <Words>229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Encode Sans Normal Black</vt:lpstr>
      <vt:lpstr>Lucida Grande</vt:lpstr>
      <vt:lpstr>Open Sans</vt:lpstr>
      <vt:lpstr>Open Sans Light</vt:lpstr>
      <vt:lpstr>Uni Sans Regular</vt:lpstr>
      <vt:lpstr>2_Custom Design</vt:lpstr>
      <vt:lpstr>1_Custom Design</vt:lpstr>
      <vt:lpstr>Custom Design</vt:lpstr>
      <vt:lpstr>3_Custom Design</vt:lpstr>
      <vt:lpstr>4_Custom Design</vt:lpstr>
      <vt:lpstr>Heating and Stirring Module Design Review #5</vt:lpstr>
      <vt:lpstr>Heating &amp; Stirring PCB</vt:lpstr>
      <vt:lpstr>Heating &amp; Stirring PCB</vt:lpstr>
      <vt:lpstr>Control Hub PCB</vt:lpstr>
      <vt:lpstr>Control Hub PCB </vt:lpstr>
      <vt:lpstr>CAN-Bus vs I2C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P Heredia-Jantz</dc:creator>
  <cp:lastModifiedBy>Rudy P Heredia-Jantz</cp:lastModifiedBy>
  <cp:revision>16</cp:revision>
  <dcterms:created xsi:type="dcterms:W3CDTF">2026-03-03T09:35:39Z</dcterms:created>
  <dcterms:modified xsi:type="dcterms:W3CDTF">2026-05-07T17:24:09Z</dcterms:modified>
</cp:coreProperties>
</file>